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11"/>
    <p:restoredTop sz="94726"/>
  </p:normalViewPr>
  <p:slideViewPr>
    <p:cSldViewPr snapToGrid="0">
      <p:cViewPr>
        <p:scale>
          <a:sx n="52" d="100"/>
          <a:sy n="52" d="100"/>
        </p:scale>
        <p:origin x="224" y="1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55F9-11A3-4523-8F38-6BA37933791A}" type="datetime1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715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228600" indent="-228600">
              <a:buFont typeface="Arial" panose="020B0604020202020204" pitchFamily="34" charset="0"/>
              <a:buChar char="•"/>
              <a:defRPr/>
            </a:lvl2pPr>
            <a:lvl3pPr marL="228600" indent="-228600">
              <a:buFont typeface="Arial" panose="020B0604020202020204" pitchFamily="34" charset="0"/>
              <a:buChar char="•"/>
              <a:defRPr/>
            </a:lvl3pPr>
            <a:lvl4pPr marL="228600" indent="-228600">
              <a:buFont typeface="Arial" panose="020B0604020202020204" pitchFamily="34" charset="0"/>
              <a:buChar char="•"/>
              <a:defRPr/>
            </a:lvl4pPr>
            <a:lvl5pPr marL="2286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D56B-6EBE-4E5F-99D9-2A3DBDF37D0A}" type="datetime1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344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09738"/>
            <a:ext cx="1089025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1089025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F3CA-C7E3-432D-9282-18F13836509A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780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825625"/>
            <a:ext cx="5562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9C62-1337-40B8-BA50-E9F4861DB4BC}" type="datetime1">
              <a:rPr lang="en-US" smtClean="0"/>
              <a:t>12/14/25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159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0863"/>
            <a:ext cx="5157787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01975"/>
            <a:ext cx="5157787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20863"/>
            <a:ext cx="5183188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101975"/>
            <a:ext cx="5183188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95EB-2DA3-4B24-8725-19BC22A7BE50}" type="datetime1">
              <a:rPr lang="en-US" smtClean="0"/>
              <a:t>12/14/25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241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37E6-0076-4915-A5A8-B7C11FA4F374}" type="datetime1">
              <a:rPr lang="en-US" smtClean="0"/>
              <a:t>12/14/25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013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F58F-C0B5-422A-8E5A-6B99E5D80F0A}" type="datetime1">
              <a:rPr lang="en-US" smtClean="0"/>
              <a:t>12/14/25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089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981200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E655-9687-48DF-A33F-F8824CCCB5D1}" type="datetime1">
              <a:rPr lang="en-US" smtClean="0"/>
              <a:t>12/14/25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17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2209799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FD56A-AAB8-4544-A495-D0645413C9E3}" type="datetime1">
              <a:rPr lang="en-US" smtClean="0"/>
              <a:t>12/14/25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732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7DD-81F8-4128-9E50-04A9F2D3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64D1-2B83-4C0F-ACBA-E91472C50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1D7D-D2EC-4ADB-9C65-191DEC8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757A-3EC2-4683-9080-1A460C37C843}" type="datetime1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B571-86F9-474A-826A-75CC21C8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4F5F-50E6-4BB9-B848-EE2302C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910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F08DF-1C0D-4F53-A3AB-95D7B55FA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3BBD-C494-4E94-B189-319802A9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0BD9-4BED-43D3-852F-B74B949A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3539" y="6324600"/>
            <a:ext cx="2560220" cy="365125"/>
          </a:xfrm>
        </p:spPr>
        <p:txBody>
          <a:bodyPr/>
          <a:lstStyle/>
          <a:p>
            <a:fld id="{5CC8096C-64ED-4153-A483-5C02E44AD5C3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11DC-C725-4462-B622-DB96A898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19838"/>
            <a:ext cx="398278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2D06-438F-4150-9238-E2FAEE5E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053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14">
            <a:extLst>
              <a:ext uri="{FF2B5EF4-FFF2-40B4-BE49-F238E27FC236}">
                <a16:creationId xmlns:a16="http://schemas.microsoft.com/office/drawing/2014/main" id="{A4798C7F-C8CA-4799-BF37-3AB4642CDB66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7F0794B-55D3-4D2D-BDE7-4688ED321E42}"/>
              </a:ext>
            </a:extLst>
          </p:cNvPr>
          <p:cNvGrpSpPr/>
          <p:nvPr/>
        </p:nvGrpSpPr>
        <p:grpSpPr>
          <a:xfrm>
            <a:off x="-11413" y="0"/>
            <a:ext cx="12214827" cy="6858000"/>
            <a:chOff x="-6214" y="-1"/>
            <a:chExt cx="12214827" cy="6858000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216BB147-20D5-4D93-BDA5-1BC614D6A4B2}"/>
              </a:ext>
            </a:extLst>
          </p:cNvPr>
          <p:cNvSpPr/>
          <p:nvPr/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07229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7229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93BAB95-8DA7-460B-B00A-7037C8394FB0}" type="datetime1">
              <a:rPr lang="en-US" smtClean="0"/>
              <a:pPr/>
              <a:t>12/14/25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0A253F60-DE40-4508-A37A-61331DF1DD5D}"/>
              </a:ext>
            </a:extLst>
          </p:cNvPr>
          <p:cNvSpPr/>
          <p:nvPr/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444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7" r:id="rId6"/>
    <p:sldLayoutId id="2147483732" r:id="rId7"/>
    <p:sldLayoutId id="2147483733" r:id="rId8"/>
    <p:sldLayoutId id="2147483734" r:id="rId9"/>
    <p:sldLayoutId id="2147483736" r:id="rId10"/>
    <p:sldLayoutId id="214748373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800" kern="1200">
          <a:solidFill>
            <a:srgbClr val="FFFFFF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400" kern="1200">
          <a:solidFill>
            <a:srgbClr val="FFFFFF"/>
          </a:solidFill>
          <a:latin typeface="+mn-lt"/>
          <a:ea typeface="+mn-ea"/>
          <a:cs typeface="+mn-cs"/>
        </a:defRPr>
      </a:lvl2pPr>
      <a:lvl3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000" kern="1200">
          <a:solidFill>
            <a:srgbClr val="FFFFFF"/>
          </a:solidFill>
          <a:latin typeface="+mn-lt"/>
          <a:ea typeface="+mn-ea"/>
          <a:cs typeface="+mn-cs"/>
        </a:defRPr>
      </a:lvl3pPr>
      <a:lvl4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929113-1368-4B1B-9C6F-140F47CBF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C24346C5-B1C8-4C83-846B-122A3B4B2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0" y="1555699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0F28F7A-4F2F-4C1B-AF1C-A6E7C7953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23CC870-B5E9-475F-A625-9E862A629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2A6B08C-017D-4B4D-95EC-4BB83C554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4599402-E1B8-4E3B-A56D-68606FC1E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720C48A-E9A0-4B85-A954-39375E099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0E26956-FF2A-412E-ACC4-29CCD02599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B31E652-49AC-4108-85B8-75122A48A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C1DB29F-0624-4035-B188-640616D5DE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D27221C-2427-4C99-89DC-1A38A54058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DBF1D76-8076-4BAE-B627-F1861C9E0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E930E41-FC2F-4319-9C28-32C278430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0936C1B-0C10-464B-85C8-345095AAB3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B90EC61-FD0C-434A-9D1B-A20035C21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5F5CC56-1FDA-4D3E-9C6E-8E996026C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72B8FB2-B735-480F-9A88-48AADB2227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5B46C1B-4FC4-4E24-AC43-07940BE1E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34915AF-0AE3-4EDD-8681-4C3F2C592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C35A3F3-714E-4F69-9BDF-8ED284EF2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3D561AC-B0B1-47EB-BE05-209F5612B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3508E52-4FD9-4E6D-AFEA-69A88ED26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69DDE76-16F7-472F-B6D7-84AE8FFF3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2D87BEF-8844-4A3E-B130-B7D26740C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B381129-2089-4EAA-AE6C-2BAA96BC8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B69BF7A-FA63-4706-8066-DF15018E6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A3ECB71-0CCD-403F-B14B-ABC48D78CD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9095BBA-0FE1-49E5-89F7-22125BAF8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55351D8-6F27-4B82-968B-581B177CB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51025A5-EB5A-4057-A85E-69AF0E6BE6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030318B-EEB9-4D92-BC50-D11510989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17FC0E3-7CC7-4188-BC7A-7E8FB5564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2CCE9D14-0106-C58D-A382-FD3CCD6E10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141" y="732349"/>
            <a:ext cx="8541789" cy="2782508"/>
          </a:xfrm>
        </p:spPr>
        <p:txBody>
          <a:bodyPr anchor="ctr">
            <a:normAutofit/>
          </a:bodyPr>
          <a:lstStyle/>
          <a:p>
            <a:pPr algn="l"/>
            <a:r>
              <a:rPr lang="de-DE" dirty="0" err="1">
                <a:solidFill>
                  <a:schemeClr val="tx2">
                    <a:alpha val="80000"/>
                  </a:schemeClr>
                </a:solidFill>
              </a:rPr>
              <a:t>Comparison</a:t>
            </a:r>
            <a:r>
              <a:rPr lang="de-DE" dirty="0">
                <a:solidFill>
                  <a:schemeClr val="tx2">
                    <a:alpha val="80000"/>
                  </a:schemeClr>
                </a:solidFill>
              </a:rPr>
              <a:t> </a:t>
            </a:r>
            <a:r>
              <a:rPr lang="de-DE" dirty="0" err="1">
                <a:solidFill>
                  <a:schemeClr val="tx2">
                    <a:alpha val="80000"/>
                  </a:schemeClr>
                </a:solidFill>
              </a:rPr>
              <a:t>of</a:t>
            </a:r>
            <a:r>
              <a:rPr lang="de-DE" dirty="0">
                <a:solidFill>
                  <a:schemeClr val="tx2">
                    <a:alpha val="80000"/>
                  </a:schemeClr>
                </a:solidFill>
              </a:rPr>
              <a:t> rural and </a:t>
            </a:r>
            <a:r>
              <a:rPr lang="de-DE" dirty="0" err="1">
                <a:solidFill>
                  <a:schemeClr val="tx2">
                    <a:alpha val="80000"/>
                  </a:schemeClr>
                </a:solidFill>
              </a:rPr>
              <a:t>city</a:t>
            </a:r>
            <a:r>
              <a:rPr lang="de-DE" dirty="0">
                <a:solidFill>
                  <a:schemeClr val="tx2">
                    <a:alpha val="80000"/>
                  </a:schemeClr>
                </a:solidFill>
              </a:rPr>
              <a:t> </a:t>
            </a:r>
            <a:r>
              <a:rPr lang="de-DE" dirty="0" err="1">
                <a:solidFill>
                  <a:schemeClr val="tx2">
                    <a:alpha val="80000"/>
                  </a:schemeClr>
                </a:solidFill>
              </a:rPr>
              <a:t>appartments</a:t>
            </a:r>
            <a:r>
              <a:rPr lang="de-DE" dirty="0">
                <a:solidFill>
                  <a:schemeClr val="tx2">
                    <a:alpha val="80000"/>
                  </a:schemeClr>
                </a:solidFill>
              </a:rPr>
              <a:t> </a:t>
            </a:r>
            <a:r>
              <a:rPr lang="de-DE" dirty="0" err="1">
                <a:solidFill>
                  <a:schemeClr val="tx2">
                    <a:alpha val="80000"/>
                  </a:schemeClr>
                </a:solidFill>
              </a:rPr>
              <a:t>of</a:t>
            </a:r>
            <a:r>
              <a:rPr lang="de-DE" dirty="0">
                <a:solidFill>
                  <a:schemeClr val="tx2">
                    <a:alpha val="80000"/>
                  </a:schemeClr>
                </a:solidFill>
              </a:rPr>
              <a:t> ZH</a:t>
            </a:r>
          </a:p>
        </p:txBody>
      </p:sp>
      <p:pic>
        <p:nvPicPr>
          <p:cNvPr id="4" name="Picture 3" descr="Bunte flüssige Kunst">
            <a:extLst>
              <a:ext uri="{FF2B5EF4-FFF2-40B4-BE49-F238E27FC236}">
                <a16:creationId xmlns:a16="http://schemas.microsoft.com/office/drawing/2014/main" id="{A270220E-ABA9-7BD1-FD52-A5EE702994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254" r="2" b="28593"/>
          <a:stretch>
            <a:fillRect/>
          </a:stretch>
        </p:blipFill>
        <p:spPr>
          <a:xfrm>
            <a:off x="1" y="3271957"/>
            <a:ext cx="12198212" cy="3599364"/>
          </a:xfrm>
          <a:custGeom>
            <a:avLst/>
            <a:gdLst/>
            <a:ahLst/>
            <a:cxnLst/>
            <a:rect l="l" t="t" r="r" b="b"/>
            <a:pathLst>
              <a:path w="12178449" h="3424057">
                <a:moveTo>
                  <a:pt x="8778628" y="0"/>
                </a:moveTo>
                <a:lnTo>
                  <a:pt x="9096995" y="0"/>
                </a:lnTo>
                <a:lnTo>
                  <a:pt x="9540073" y="10341"/>
                </a:lnTo>
                <a:cubicBezTo>
                  <a:pt x="10154127" y="37036"/>
                  <a:pt x="10847400" y="104023"/>
                  <a:pt x="11653844" y="224215"/>
                </a:cubicBezTo>
                <a:lnTo>
                  <a:pt x="12178449" y="307575"/>
                </a:lnTo>
                <a:lnTo>
                  <a:pt x="12178449" y="3424056"/>
                </a:lnTo>
                <a:lnTo>
                  <a:pt x="0" y="3424057"/>
                </a:lnTo>
                <a:lnTo>
                  <a:pt x="0" y="1093185"/>
                </a:lnTo>
                <a:lnTo>
                  <a:pt x="851945" y="1080793"/>
                </a:lnTo>
                <a:cubicBezTo>
                  <a:pt x="4637202" y="967650"/>
                  <a:pt x="5848483" y="115490"/>
                  <a:pt x="8385751" y="7749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87917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3F76E1C-FC69-44F6-935D-9FD6397B50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B3C4E00-6B18-4CF8-9DC2-021622967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77E7ABFD-4E2F-460B-8571-E350D0FC7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3C184D3-4C2A-44EE-A262-2E3C6842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86C4B643-3D84-4CB1-BEEE-CB9B1D35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B398A65-DA43-4776-BDAA-279642F5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9646011-DF03-4FDE-B8BB-0AE0F89F34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2540D352-E7ED-47DC-BE8E-C9FEF77A5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16DB5D5B-5AE4-4DAB-8141-FCDB662317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58EEF6B7-AD60-428F-B6B8-2238AA57D9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CF98CDB8-6AD1-4729-8490-32C346B656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EB8E25F4-254A-4197-9ADB-F0C5ADBE4C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06A3F39-2E01-4422-9A9B-45B4EF2F97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89EE711-BFF1-4294-9012-82022ED731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586C175-76D7-4C6F-807C-C70ED98478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95DB0DA-F298-46F5-859B-F63BFF39C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BB802C45-F77C-47E5-92CF-B8E7CC175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924382CF-AB3E-45B3-B1DE-A048D6B45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C7406E1-9B70-4704-ADE3-164CA49C15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F74B1505-38F1-43E4-A215-624F3C286C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A10358C0-5CC8-4841-B5E4-E72FC83FBA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D6938537-63B0-45D6-8D4B-12C7CBB41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015E06D-5EA4-41D7-81ED-46FC62E30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DBC5760A-F5E0-4888-9EE8-99457C481D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EB505B7F-5D39-4E4A-8824-3B1A015647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AB7C9669-FA4D-4891-BD61-BA8A3D639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2252FB45-210F-4354-9D8E-005E2578B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3F9A75-1D01-443A-813C-F9CE58F561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5A3E4BAE-6E09-4139-9A77-C0BCAB270A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95A77689-BF30-4CAF-8EE7-92A3A1E87B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3097EE4C-0335-4AA3-BF62-E15062FFCD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62FC2A78-9BA8-46A3-B2FC-D2536540C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12F6BB95-E3D7-4E0D-B657-19A7A700D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4BB59D20-8878-4BE1-A373-5A06B03A0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5FC95D79-E360-4A9D-9734-36CBC93E7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DA35E6A9-BB47-4AF0-9704-34A3E3332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0E9E767C-C7A3-4C9E-BB5A-A6C7A55CB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514E9D6E-9E89-4243-9ABF-D53E899D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763B0DB-5EDC-4940-914A-B1AEB112E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72A229E1-C295-4D87-8D5A-8D23A49E7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B191967F-41E6-4FB0-8EDD-887461FDE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8488BC40-49ED-4A65-BFDD-42C2380ACE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3B9873C2-1A36-4C3B-A846-B2DE9329E7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AF554750-AAD3-49D1-94C7-97D45697E0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1D14B09A-44BF-46D9-94A1-76D33A391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7ADE71B3-A935-4125-A959-9B82465AED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909AC835-5101-4FBA-9BDB-1E4D1DF7E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26DFCDBC-985F-4743-833F-BD55DDC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E116F6F7-AD3C-43D6-B98D-44897F0EB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190822A4-6A86-4617-A472-CE7F9A0BB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89CD6272-DC88-46BD-BAF4-0CA0DD4DBA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33F1AD65-F542-413F-9CBD-C2533F7172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9E5DB73A-E5E6-4F3C-AA74-78F7C5282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DBC080D5-DE50-4633-A72B-29C94D6237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615F852F-3D9E-4F8E-B38C-3A3FE5A00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947B63D4-9AD6-4481-B5C7-03A9A1B8A7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6B7CEAE6-B9C0-42D7-8770-69D8A3D06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35E117AB-9AD5-4F2A-8CE9-55DD704E7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AA9F1B50-E102-4170-B38D-DC2396664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18834EA0-11D6-48D2-9885-36869DDFBA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759B5C28-9F05-4598-B55E-100BAA982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2BD7EE85-29AF-444F-B17B-299BBAFC0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15" name="Rectangle 114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4A929113-1368-4B1B-9C6F-140F47CBF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9" name="Right Triangle 118">
            <a:extLst>
              <a:ext uri="{FF2B5EF4-FFF2-40B4-BE49-F238E27FC236}">
                <a16:creationId xmlns:a16="http://schemas.microsoft.com/office/drawing/2014/main" id="{C24346C5-B1C8-4C83-846B-122A3B4B2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0" y="1555699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Freeform: Shape 120">
            <a:extLst>
              <a:ext uri="{FF2B5EF4-FFF2-40B4-BE49-F238E27FC236}">
                <a16:creationId xmlns:a16="http://schemas.microsoft.com/office/drawing/2014/main" id="{0B6C48B2-8296-4312-8901-93BB7735D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252" y="4554328"/>
            <a:ext cx="12178450" cy="2303672"/>
          </a:xfrm>
          <a:custGeom>
            <a:avLst/>
            <a:gdLst>
              <a:gd name="connsiteX0" fmla="*/ 8951169 w 12178450"/>
              <a:gd name="connsiteY0" fmla="*/ 32 h 2001622"/>
              <a:gd name="connsiteX1" fmla="*/ 11653845 w 12178450"/>
              <a:gd name="connsiteY1" fmla="*/ 209874 h 2001622"/>
              <a:gd name="connsiteX2" fmla="*/ 12178450 w 12178450"/>
              <a:gd name="connsiteY2" fmla="*/ 286723 h 2001622"/>
              <a:gd name="connsiteX3" fmla="*/ 12178450 w 12178450"/>
              <a:gd name="connsiteY3" fmla="*/ 2001622 h 2001622"/>
              <a:gd name="connsiteX4" fmla="*/ 0 w 12178450"/>
              <a:gd name="connsiteY4" fmla="*/ 2001622 h 2001622"/>
              <a:gd name="connsiteX5" fmla="*/ 0 w 12178450"/>
              <a:gd name="connsiteY5" fmla="*/ 1010979 h 2001622"/>
              <a:gd name="connsiteX6" fmla="*/ 8951169 w 12178450"/>
              <a:gd name="connsiteY6" fmla="*/ 32 h 200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8450" h="2001622">
                <a:moveTo>
                  <a:pt x="8951169" y="32"/>
                </a:moveTo>
                <a:cubicBezTo>
                  <a:pt x="9704520" y="1593"/>
                  <a:pt x="10578586" y="62133"/>
                  <a:pt x="11653845" y="209874"/>
                </a:cubicBezTo>
                <a:lnTo>
                  <a:pt x="12178450" y="286723"/>
                </a:lnTo>
                <a:lnTo>
                  <a:pt x="12178450" y="2001622"/>
                </a:lnTo>
                <a:lnTo>
                  <a:pt x="0" y="2001622"/>
                </a:lnTo>
                <a:lnTo>
                  <a:pt x="0" y="1010979"/>
                </a:lnTo>
                <a:cubicBezTo>
                  <a:pt x="4768989" y="1010979"/>
                  <a:pt x="5812206" y="-6472"/>
                  <a:pt x="8951169" y="32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90F28F7A-4F2F-4C1B-AF1C-A6E7C7953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23CC870-B5E9-475F-A625-9E862A629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42A6B08C-017D-4B4D-95EC-4BB83C554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94599402-E1B8-4E3B-A56D-68606FC1E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B720C48A-E9A0-4B85-A954-39375E099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B0E26956-FF2A-412E-ACC4-29CCD02599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FB31E652-49AC-4108-85B8-75122A48A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DC1DB29F-0624-4035-B188-640616D5DE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1D27221C-2427-4C99-89DC-1A38A54058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2DBF1D76-8076-4BAE-B627-F1861C9E0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8E930E41-FC2F-4319-9C28-32C278430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C0936C1B-0C10-464B-85C8-345095AAB3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DB90EC61-FD0C-434A-9D1B-A20035C21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A5F5CC56-1FDA-4D3E-9C6E-8E996026C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2B8FB2-B735-480F-9A88-48AADB2227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85B46C1B-4FC4-4E24-AC43-07940BE1E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C34915AF-0AE3-4EDD-8681-4C3F2C592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5C35A3F3-714E-4F69-9BDF-8ED284EF2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03D561AC-B0B1-47EB-BE05-209F5612B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D3508E52-4FD9-4E6D-AFEA-69A88ED26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C69DDE76-16F7-472F-B6D7-84AE8FFF3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B2D87BEF-8844-4A3E-B130-B7D26740C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BB381129-2089-4EAA-AE6C-2BAA96BC8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5B69BF7A-FA63-4706-8066-DF15018E6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6A3ECB71-0CCD-403F-B14B-ABC48D78CD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D9095BBA-0FE1-49E5-89F7-22125BAF8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B55351D8-6F27-4B82-968B-581B177CB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351025A5-EB5A-4057-A85E-69AF0E6BE6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5030318B-EEB9-4D92-BC50-D11510989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417FC0E3-7CC7-4188-BC7A-7E8FB5564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4AC3F990-E722-0E98-C6E1-6C845ADF5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142" y="168275"/>
            <a:ext cx="6542916" cy="257492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/>
              <a:t>Summary</a:t>
            </a:r>
          </a:p>
        </p:txBody>
      </p:sp>
      <p:pic>
        <p:nvPicPr>
          <p:cNvPr id="6" name="Grafik 5" descr="Ein Bild, das Text, Screenshot, Schrift, Schwarzweiß enthält.&#10;&#10;KI-generierte Inhalte können fehlerhaft sein.">
            <a:extLst>
              <a:ext uri="{FF2B5EF4-FFF2-40B4-BE49-F238E27FC236}">
                <a16:creationId xmlns:a16="http://schemas.microsoft.com/office/drawing/2014/main" id="{E433052F-8AC1-2253-2D4E-2646AAD9E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26" y="3066984"/>
            <a:ext cx="5830822" cy="1122432"/>
          </a:xfrm>
          <a:prstGeom prst="rect">
            <a:avLst/>
          </a:prstGeom>
        </p:spPr>
      </p:pic>
      <p:pic>
        <p:nvPicPr>
          <p:cNvPr id="7" name="Grafik 6" descr="Ein Bild, das Text, Screenshot, Schwarz, Schrift enthält.&#10;&#10;KI-generierte Inhalte können fehlerhaft sein.">
            <a:extLst>
              <a:ext uri="{FF2B5EF4-FFF2-40B4-BE49-F238E27FC236}">
                <a16:creationId xmlns:a16="http://schemas.microsoft.com/office/drawing/2014/main" id="{65A2F4B4-2D16-D875-ADB5-D24DB3C4C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780" y="3074272"/>
            <a:ext cx="5830822" cy="1107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714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 155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9" name="Freeform: Shape 188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1" name="Freeform: Shape 190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63F76E1C-FC69-44F6-935D-9FD6397B50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AB3C4E00-6B18-4CF8-9DC2-021622967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77E7ABFD-4E2F-460B-8571-E350D0FC7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23C184D3-4C2A-44EE-A262-2E3C6842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86C4B643-3D84-4CB1-BEEE-CB9B1D35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FB398A65-DA43-4776-BDAA-279642F5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69646011-DF03-4FDE-B8BB-0AE0F89F34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2540D352-E7ED-47DC-BE8E-C9FEF77A5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16DB5D5B-5AE4-4DAB-8141-FCDB662317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58EEF6B7-AD60-428F-B6B8-2238AA57D9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CF98CDB8-6AD1-4729-8490-32C346B656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8E25F4-254A-4197-9ADB-F0C5ADBE4C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E06A3F39-2E01-4422-9A9B-45B4EF2F97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B89EE711-BFF1-4294-9012-82022ED731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3586C175-76D7-4C6F-807C-C70ED98478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395DB0DA-F298-46F5-859B-F63BFF39C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B802C45-F77C-47E5-92CF-B8E7CC175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924382CF-AB3E-45B3-B1DE-A048D6B45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8C7406E1-9B70-4704-ADE3-164CA49C15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F74B1505-38F1-43E4-A215-624F3C286C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A10358C0-5CC8-4841-B5E4-E72FC83FBA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D6938537-63B0-45D6-8D4B-12C7CBB41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8015E06D-5EA4-41D7-81ED-46FC62E30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DBC5760A-F5E0-4888-9EE8-99457C481D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EB505B7F-5D39-4E4A-8824-3B1A015647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AB7C9669-FA4D-4891-BD61-BA8A3D639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2252FB45-210F-4354-9D8E-005E2578B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DE3F9A75-1D01-443A-813C-F9CE58F561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A3E4BAE-6E09-4139-9A77-C0BCAB270A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95A77689-BF30-4CAF-8EE7-92A3A1E87B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3097EE4C-0335-4AA3-BF62-E15062FFCD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6" name="Freeform: Shape 225">
            <a:extLst>
              <a:ext uri="{FF2B5EF4-FFF2-40B4-BE49-F238E27FC236}">
                <a16:creationId xmlns:a16="http://schemas.microsoft.com/office/drawing/2014/main" id="{62FC2A78-9BA8-46A3-B2FC-D2536540C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12F6BB95-E3D7-4E0D-B657-19A7A700D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4BB59D20-8878-4BE1-A373-5A06B03A0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5FC95D79-E360-4A9D-9734-36CBC93E7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DA35E6A9-BB47-4AF0-9704-34A3E3332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0E9E767C-C7A3-4C9E-BB5A-A6C7A55CB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514E9D6E-9E89-4243-9ABF-D53E899D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B763B0DB-5EDC-4940-914A-B1AEB112E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72A229E1-C295-4D87-8D5A-8D23A49E7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B191967F-41E6-4FB0-8EDD-887461FDE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8488BC40-49ED-4A65-BFDD-42C2380ACE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3B9873C2-1A36-4C3B-A846-B2DE9329E7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AF554750-AAD3-49D1-94C7-97D45697E0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1D14B09A-44BF-46D9-94A1-76D33A391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7ADE71B3-A935-4125-A959-9B82465AED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909AC835-5101-4FBA-9BDB-1E4D1DF7E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26DFCDBC-985F-4743-833F-BD55DDC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E116F6F7-AD3C-43D6-B98D-44897F0EB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190822A4-6A86-4617-A472-CE7F9A0BB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89CD6272-DC88-46BD-BAF4-0CA0DD4DBA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33F1AD65-F542-413F-9CBD-C2533F7172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9E5DB73A-E5E6-4F3C-AA74-78F7C5282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DBC080D5-DE50-4633-A72B-29C94D6237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615F852F-3D9E-4F8E-B38C-3A3FE5A00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947B63D4-9AD6-4481-B5C7-03A9A1B8A7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6B7CEAE6-B9C0-42D7-8770-69D8A3D06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35E117AB-9AD5-4F2A-8CE9-55DD704E7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AA9F1B50-E102-4170-B38D-DC2396664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18834EA0-11D6-48D2-9885-36869DDFBA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759B5C28-9F05-4598-B55E-100BAA982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2BD7EE85-29AF-444F-B17B-299BBAFC0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259" name="Rectangle 258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4A929113-1368-4B1B-9C6F-140F47CBF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63" name="Right Triangle 262">
            <a:extLst>
              <a:ext uri="{FF2B5EF4-FFF2-40B4-BE49-F238E27FC236}">
                <a16:creationId xmlns:a16="http://schemas.microsoft.com/office/drawing/2014/main" id="{C24346C5-B1C8-4C83-846B-122A3B4B2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0" y="1555699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Freeform: Shape 264">
            <a:extLst>
              <a:ext uri="{FF2B5EF4-FFF2-40B4-BE49-F238E27FC236}">
                <a16:creationId xmlns:a16="http://schemas.microsoft.com/office/drawing/2014/main" id="{0B6C48B2-8296-4312-8901-93BB7735D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380" y="4114802"/>
            <a:ext cx="12211777" cy="2743198"/>
          </a:xfrm>
          <a:custGeom>
            <a:avLst/>
            <a:gdLst>
              <a:gd name="connsiteX0" fmla="*/ 8951169 w 12178450"/>
              <a:gd name="connsiteY0" fmla="*/ 32 h 2001622"/>
              <a:gd name="connsiteX1" fmla="*/ 11653845 w 12178450"/>
              <a:gd name="connsiteY1" fmla="*/ 209874 h 2001622"/>
              <a:gd name="connsiteX2" fmla="*/ 12178450 w 12178450"/>
              <a:gd name="connsiteY2" fmla="*/ 286723 h 2001622"/>
              <a:gd name="connsiteX3" fmla="*/ 12178450 w 12178450"/>
              <a:gd name="connsiteY3" fmla="*/ 2001622 h 2001622"/>
              <a:gd name="connsiteX4" fmla="*/ 0 w 12178450"/>
              <a:gd name="connsiteY4" fmla="*/ 2001622 h 2001622"/>
              <a:gd name="connsiteX5" fmla="*/ 0 w 12178450"/>
              <a:gd name="connsiteY5" fmla="*/ 1010979 h 2001622"/>
              <a:gd name="connsiteX6" fmla="*/ 8951169 w 12178450"/>
              <a:gd name="connsiteY6" fmla="*/ 32 h 200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8450" h="2001622">
                <a:moveTo>
                  <a:pt x="8951169" y="32"/>
                </a:moveTo>
                <a:cubicBezTo>
                  <a:pt x="9704520" y="1593"/>
                  <a:pt x="10578586" y="62133"/>
                  <a:pt x="11653845" y="209874"/>
                </a:cubicBezTo>
                <a:lnTo>
                  <a:pt x="12178450" y="286723"/>
                </a:lnTo>
                <a:lnTo>
                  <a:pt x="12178450" y="2001622"/>
                </a:lnTo>
                <a:lnTo>
                  <a:pt x="0" y="2001622"/>
                </a:lnTo>
                <a:lnTo>
                  <a:pt x="0" y="1010979"/>
                </a:lnTo>
                <a:cubicBezTo>
                  <a:pt x="4768989" y="1010979"/>
                  <a:pt x="5812206" y="-6472"/>
                  <a:pt x="8951169" y="32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90F28F7A-4F2F-4C1B-AF1C-A6E7C7953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B23CC870-B5E9-475F-A625-9E862A629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42A6B08C-017D-4B4D-95EC-4BB83C554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94599402-E1B8-4E3B-A56D-68606FC1E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B720C48A-E9A0-4B85-A954-39375E099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B0E26956-FF2A-412E-ACC4-29CCD02599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FB31E652-49AC-4108-85B8-75122A48A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DC1DB29F-0624-4035-B188-640616D5DE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1D27221C-2427-4C99-89DC-1A38A54058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2DBF1D76-8076-4BAE-B627-F1861C9E0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8E930E41-FC2F-4319-9C28-32C278430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C0936C1B-0C10-464B-85C8-345095AAB3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id="{DB90EC61-FD0C-434A-9D1B-A20035C21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A5F5CC56-1FDA-4D3E-9C6E-8E996026C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272B8FB2-B735-480F-9A88-48AADB2227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85B46C1B-4FC4-4E24-AC43-07940BE1E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C34915AF-0AE3-4EDD-8681-4C3F2C592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5C35A3F3-714E-4F69-9BDF-8ED284EF2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03D561AC-B0B1-47EB-BE05-209F5612B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D3508E52-4FD9-4E6D-AFEA-69A88ED26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C69DDE76-16F7-472F-B6D7-84AE8FFF3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B2D87BEF-8844-4A3E-B130-B7D26740C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BB381129-2089-4EAA-AE6C-2BAA96BC8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5B69BF7A-FA63-4706-8066-DF15018E6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6A3ECB71-0CCD-403F-B14B-ABC48D78CD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D9095BBA-0FE1-49E5-89F7-22125BAF8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B55351D8-6F27-4B82-968B-581B177CB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351025A5-EB5A-4057-A85E-69AF0E6BE6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5030318B-EEB9-4D92-BC50-D11510989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417FC0E3-7CC7-4188-BC7A-7E8FB5564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09C3A9F7-EC07-89C1-78D1-5601C736F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141" y="168275"/>
            <a:ext cx="11063355" cy="257492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dirty="0">
                <a:solidFill>
                  <a:schemeClr val="tx2"/>
                </a:solidFill>
              </a:rPr>
              <a:t>Boxplot of prices per m2</a:t>
            </a:r>
          </a:p>
        </p:txBody>
      </p:sp>
      <p:pic>
        <p:nvPicPr>
          <p:cNvPr id="6" name="Grafik 5" descr="Ein Bild, das Reihe, Diagramm, Rechteck, Screenshot enthält.&#10;&#10;KI-generierte Inhalte können fehlerhaft sein.">
            <a:extLst>
              <a:ext uri="{FF2B5EF4-FFF2-40B4-BE49-F238E27FC236}">
                <a16:creationId xmlns:a16="http://schemas.microsoft.com/office/drawing/2014/main" id="{81FC6FFF-5BC6-EB4D-CB93-73598E6A3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92" y="4053094"/>
            <a:ext cx="5830822" cy="1413974"/>
          </a:xfrm>
          <a:prstGeom prst="rect">
            <a:avLst/>
          </a:prstGeom>
        </p:spPr>
      </p:pic>
      <p:pic>
        <p:nvPicPr>
          <p:cNvPr id="7" name="Grafik 6" descr="Ein Bild, das Screenshot, Tex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6B74C049-60C1-1959-6B49-E0882DE66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0816" y="4082249"/>
            <a:ext cx="5830822" cy="1355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94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3F76E1C-FC69-44F6-935D-9FD6397B50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B3C4E00-6B18-4CF8-9DC2-021622967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77E7ABFD-4E2F-460B-8571-E350D0FC7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23C184D3-4C2A-44EE-A262-2E3C6842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6C4B643-3D84-4CB1-BEEE-CB9B1D35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B398A65-DA43-4776-BDAA-279642F5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69646011-DF03-4FDE-B8BB-0AE0F89F34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2540D352-E7ED-47DC-BE8E-C9FEF77A5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6DB5D5B-5AE4-4DAB-8141-FCDB662317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58EEF6B7-AD60-428F-B6B8-2238AA57D9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F98CDB8-6AD1-4729-8490-32C346B656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EB8E25F4-254A-4197-9ADB-F0C5ADBE4C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06A3F39-2E01-4422-9A9B-45B4EF2F97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89EE711-BFF1-4294-9012-82022ED731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3586C175-76D7-4C6F-807C-C70ED98478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95DB0DA-F298-46F5-859B-F63BFF39C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B802C45-F77C-47E5-92CF-B8E7CC175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924382CF-AB3E-45B3-B1DE-A048D6B45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8C7406E1-9B70-4704-ADE3-164CA49C15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F74B1505-38F1-43E4-A215-624F3C286C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A10358C0-5CC8-4841-B5E4-E72FC83FBA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6938537-63B0-45D6-8D4B-12C7CBB41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8015E06D-5EA4-41D7-81ED-46FC62E30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C5760A-F5E0-4888-9EE8-99457C481D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EB505B7F-5D39-4E4A-8824-3B1A015647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AB7C9669-FA4D-4891-BD61-BA8A3D639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2252FB45-210F-4354-9D8E-005E2578B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DE3F9A75-1D01-443A-813C-F9CE58F561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A3E4BAE-6E09-4139-9A77-C0BCAB270A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95A77689-BF30-4CAF-8EE7-92A3A1E87B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3097EE4C-0335-4AA3-BF62-E15062FFCD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62FC2A78-9BA8-46A3-B2FC-D2536540C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12F6BB95-E3D7-4E0D-B657-19A7A700D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4BB59D20-8878-4BE1-A373-5A06B03A0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5FC95D79-E360-4A9D-9734-36CBC93E7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DA35E6A9-BB47-4AF0-9704-34A3E3332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E9E767C-C7A3-4C9E-BB5A-A6C7A55CB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514E9D6E-9E89-4243-9ABF-D53E899D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B763B0DB-5EDC-4940-914A-B1AEB112E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72A229E1-C295-4D87-8D5A-8D23A49E7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B191967F-41E6-4FB0-8EDD-887461FDE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8488BC40-49ED-4A65-BFDD-42C2380ACE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3B9873C2-1A36-4C3B-A846-B2DE9329E7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AF554750-AAD3-49D1-94C7-97D45697E0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1D14B09A-44BF-46D9-94A1-76D33A391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7ADE71B3-A935-4125-A959-9B82465AED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909AC835-5101-4FBA-9BDB-1E4D1DF7E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26DFCDBC-985F-4743-833F-BD55DDC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E116F6F7-AD3C-43D6-B98D-44897F0EB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190822A4-6A86-4617-A472-CE7F9A0BB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89CD6272-DC88-46BD-BAF4-0CA0DD4DBA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33F1AD65-F542-413F-9CBD-C2533F7172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9E5DB73A-E5E6-4F3C-AA74-78F7C5282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DBC080D5-DE50-4633-A72B-29C94D6237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615F852F-3D9E-4F8E-B38C-3A3FE5A00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947B63D4-9AD6-4481-B5C7-03A9A1B8A7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6B7CEAE6-B9C0-42D7-8770-69D8A3D06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35E117AB-9AD5-4F2A-8CE9-55DD704E7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AA9F1B50-E102-4170-B38D-DC2396664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18834EA0-11D6-48D2-9885-36869DDFBA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759B5C28-9F05-4598-B55E-100BAA982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2BD7EE85-29AF-444F-B17B-299BBAFC0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12" name="Rectangle 111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4A929113-1368-4B1B-9C6F-140F47CBF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6" name="Right Triangle 115">
            <a:extLst>
              <a:ext uri="{FF2B5EF4-FFF2-40B4-BE49-F238E27FC236}">
                <a16:creationId xmlns:a16="http://schemas.microsoft.com/office/drawing/2014/main" id="{C24346C5-B1C8-4C83-846B-122A3B4B2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0" y="1555699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Freeform: Shape 117">
            <a:extLst>
              <a:ext uri="{FF2B5EF4-FFF2-40B4-BE49-F238E27FC236}">
                <a16:creationId xmlns:a16="http://schemas.microsoft.com/office/drawing/2014/main" id="{0B6C48B2-8296-4312-8901-93BB7735D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252" y="4554328"/>
            <a:ext cx="12178450" cy="2303672"/>
          </a:xfrm>
          <a:custGeom>
            <a:avLst/>
            <a:gdLst>
              <a:gd name="connsiteX0" fmla="*/ 8951169 w 12178450"/>
              <a:gd name="connsiteY0" fmla="*/ 32 h 2001622"/>
              <a:gd name="connsiteX1" fmla="*/ 11653845 w 12178450"/>
              <a:gd name="connsiteY1" fmla="*/ 209874 h 2001622"/>
              <a:gd name="connsiteX2" fmla="*/ 12178450 w 12178450"/>
              <a:gd name="connsiteY2" fmla="*/ 286723 h 2001622"/>
              <a:gd name="connsiteX3" fmla="*/ 12178450 w 12178450"/>
              <a:gd name="connsiteY3" fmla="*/ 2001622 h 2001622"/>
              <a:gd name="connsiteX4" fmla="*/ 0 w 12178450"/>
              <a:gd name="connsiteY4" fmla="*/ 2001622 h 2001622"/>
              <a:gd name="connsiteX5" fmla="*/ 0 w 12178450"/>
              <a:gd name="connsiteY5" fmla="*/ 1010979 h 2001622"/>
              <a:gd name="connsiteX6" fmla="*/ 8951169 w 12178450"/>
              <a:gd name="connsiteY6" fmla="*/ 32 h 200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8450" h="2001622">
                <a:moveTo>
                  <a:pt x="8951169" y="32"/>
                </a:moveTo>
                <a:cubicBezTo>
                  <a:pt x="9704520" y="1593"/>
                  <a:pt x="10578586" y="62133"/>
                  <a:pt x="11653845" y="209874"/>
                </a:cubicBezTo>
                <a:lnTo>
                  <a:pt x="12178450" y="286723"/>
                </a:lnTo>
                <a:lnTo>
                  <a:pt x="12178450" y="2001622"/>
                </a:lnTo>
                <a:lnTo>
                  <a:pt x="0" y="2001622"/>
                </a:lnTo>
                <a:lnTo>
                  <a:pt x="0" y="1010979"/>
                </a:lnTo>
                <a:cubicBezTo>
                  <a:pt x="4768989" y="1010979"/>
                  <a:pt x="5812206" y="-6472"/>
                  <a:pt x="8951169" y="32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90F28F7A-4F2F-4C1B-AF1C-A6E7C7953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B23CC870-B5E9-475F-A625-9E862A629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42A6B08C-017D-4B4D-95EC-4BB83C554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94599402-E1B8-4E3B-A56D-68606FC1E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720C48A-E9A0-4B85-A954-39375E099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0E26956-FF2A-412E-ACC4-29CCD02599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FB31E652-49AC-4108-85B8-75122A48A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DC1DB29F-0624-4035-B188-640616D5DE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1D27221C-2427-4C99-89DC-1A38A54058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2DBF1D76-8076-4BAE-B627-F1861C9E0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8E930E41-FC2F-4319-9C28-32C278430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C0936C1B-0C10-464B-85C8-345095AAB3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DB90EC61-FD0C-434A-9D1B-A20035C21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A5F5CC56-1FDA-4D3E-9C6E-8E996026C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272B8FB2-B735-480F-9A88-48AADB2227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85B46C1B-4FC4-4E24-AC43-07940BE1E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C34915AF-0AE3-4EDD-8681-4C3F2C592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5C35A3F3-714E-4F69-9BDF-8ED284EF2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03D561AC-B0B1-47EB-BE05-209F5612B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D3508E52-4FD9-4E6D-AFEA-69A88ED26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C69DDE76-16F7-472F-B6D7-84AE8FFF3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B2D87BEF-8844-4A3E-B130-B7D26740C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BB381129-2089-4EAA-AE6C-2BAA96BC8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5B69BF7A-FA63-4706-8066-DF15018E6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6A3ECB71-0CCD-403F-B14B-ABC48D78CD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D9095BBA-0FE1-49E5-89F7-22125BAF8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55351D8-6F27-4B82-968B-581B177CB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351025A5-EB5A-4057-A85E-69AF0E6BE6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5030318B-EEB9-4D92-BC50-D11510989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417FC0E3-7CC7-4188-BC7A-7E8FB5564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8EC9FAD3-4C3A-B7D8-4AF7-74B18B296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142" y="168275"/>
            <a:ext cx="6542916" cy="257492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/>
              <a:t>Boxplot of areas</a:t>
            </a:r>
          </a:p>
        </p:txBody>
      </p:sp>
      <p:pic>
        <p:nvPicPr>
          <p:cNvPr id="3" name="Grafik 2" descr="Ein Bild, das Diagramm, Screenshot, Reihe, Text enthält.&#10;&#10;KI-generierte Inhalte können fehlerhaft sein.">
            <a:extLst>
              <a:ext uri="{FF2B5EF4-FFF2-40B4-BE49-F238E27FC236}">
                <a16:creationId xmlns:a16="http://schemas.microsoft.com/office/drawing/2014/main" id="{14D72422-6831-E2FC-65AE-F61D09B5F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92" y="4038518"/>
            <a:ext cx="5830822" cy="1443127"/>
          </a:xfrm>
          <a:prstGeom prst="rect">
            <a:avLst/>
          </a:prstGeom>
        </p:spPr>
      </p:pic>
      <p:pic>
        <p:nvPicPr>
          <p:cNvPr id="4" name="Grafik 3" descr="Ein Bild, das Screenshot, Reihe, Diagramm, Rechteck enthält.&#10;&#10;KI-generierte Inhalte können fehlerhaft sein.">
            <a:extLst>
              <a:ext uri="{FF2B5EF4-FFF2-40B4-BE49-F238E27FC236}">
                <a16:creationId xmlns:a16="http://schemas.microsoft.com/office/drawing/2014/main" id="{B16FB9B8-9375-DD1A-7E03-EBA17BD24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0816" y="4082249"/>
            <a:ext cx="5830822" cy="1355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288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8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52" name="Group 10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3" name="Freeform: Shape 41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4" name="Freeform: Shape 43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5" name="Rectangle 45">
            <a:extLst>
              <a:ext uri="{FF2B5EF4-FFF2-40B4-BE49-F238E27FC236}">
                <a16:creationId xmlns:a16="http://schemas.microsoft.com/office/drawing/2014/main" id="{63F76E1C-FC69-44F6-935D-9FD6397B50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56" name="Group 47">
            <a:extLst>
              <a:ext uri="{FF2B5EF4-FFF2-40B4-BE49-F238E27FC236}">
                <a16:creationId xmlns:a16="http://schemas.microsoft.com/office/drawing/2014/main" id="{AB3C4E00-6B18-4CF8-9DC2-021622967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77E7ABFD-4E2F-460B-8571-E350D0FC7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23C184D3-4C2A-44EE-A262-2E3C6842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6C4B643-3D84-4CB1-BEEE-CB9B1D35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B398A65-DA43-4776-BDAA-279642F5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69646011-DF03-4FDE-B8BB-0AE0F89F34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2540D352-E7ED-47DC-BE8E-C9FEF77A5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6DB5D5B-5AE4-4DAB-8141-FCDB662317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58EEF6B7-AD60-428F-B6B8-2238AA57D9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F98CDB8-6AD1-4729-8490-32C346B656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EB8E25F4-254A-4197-9ADB-F0C5ADBE4C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06A3F39-2E01-4422-9A9B-45B4EF2F97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89EE711-BFF1-4294-9012-82022ED731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3586C175-76D7-4C6F-807C-C70ED98478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95DB0DA-F298-46F5-859B-F63BFF39C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B802C45-F77C-47E5-92CF-B8E7CC175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924382CF-AB3E-45B3-B1DE-A048D6B45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8C7406E1-9B70-4704-ADE3-164CA49C15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F74B1505-38F1-43E4-A215-624F3C286C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A10358C0-5CC8-4841-B5E4-E72FC83FBA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6938537-63B0-45D6-8D4B-12C7CBB41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8015E06D-5EA4-41D7-81ED-46FC62E30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C5760A-F5E0-4888-9EE8-99457C481D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EB505B7F-5D39-4E4A-8824-3B1A015647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AB7C9669-FA4D-4891-BD61-BA8A3D639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2252FB45-210F-4354-9D8E-005E2578B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DE3F9A75-1D01-443A-813C-F9CE58F561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A3E4BAE-6E09-4139-9A77-C0BCAB270A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95A77689-BF30-4CAF-8EE7-92A3A1E87B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3097EE4C-0335-4AA3-BF62-E15062FFCD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7" name="Freeform: Shape 78">
            <a:extLst>
              <a:ext uri="{FF2B5EF4-FFF2-40B4-BE49-F238E27FC236}">
                <a16:creationId xmlns:a16="http://schemas.microsoft.com/office/drawing/2014/main" id="{62FC2A78-9BA8-46A3-B2FC-D2536540C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58" name="Group 80">
            <a:extLst>
              <a:ext uri="{FF2B5EF4-FFF2-40B4-BE49-F238E27FC236}">
                <a16:creationId xmlns:a16="http://schemas.microsoft.com/office/drawing/2014/main" id="{12F6BB95-E3D7-4E0D-B657-19A7A700D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4BB59D20-8878-4BE1-A373-5A06B03A0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5FC95D79-E360-4A9D-9734-36CBC93E7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DA35E6A9-BB47-4AF0-9704-34A3E3332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E9E767C-C7A3-4C9E-BB5A-A6C7A55CB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514E9D6E-9E89-4243-9ABF-D53E899D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B763B0DB-5EDC-4940-914A-B1AEB112E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72A229E1-C295-4D87-8D5A-8D23A49E7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B191967F-41E6-4FB0-8EDD-887461FDE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8488BC40-49ED-4A65-BFDD-42C2380ACE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3B9873C2-1A36-4C3B-A846-B2DE9329E7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AF554750-AAD3-49D1-94C7-97D45697E0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1D14B09A-44BF-46D9-94A1-76D33A391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7ADE71B3-A935-4125-A959-9B82465AED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909AC835-5101-4FBA-9BDB-1E4D1DF7E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26DFCDBC-985F-4743-833F-BD55DDC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E116F6F7-AD3C-43D6-B98D-44897F0EB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190822A4-6A86-4617-A472-CE7F9A0BB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89CD6272-DC88-46BD-BAF4-0CA0DD4DBA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33F1AD65-F542-413F-9CBD-C2533F7172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9E5DB73A-E5E6-4F3C-AA74-78F7C5282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DBC080D5-DE50-4633-A72B-29C94D6237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615F852F-3D9E-4F8E-B38C-3A3FE5A00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947B63D4-9AD6-4481-B5C7-03A9A1B8A7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6B7CEAE6-B9C0-42D7-8770-69D8A3D06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35E117AB-9AD5-4F2A-8CE9-55DD704E7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AA9F1B50-E102-4170-B38D-DC2396664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18834EA0-11D6-48D2-9885-36869DDFBA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759B5C28-9F05-4598-B55E-100BAA982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2BD7EE85-29AF-444F-B17B-299BBAFC0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59" name="Rectangle 111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0" name="Rectangle 113">
            <a:extLst>
              <a:ext uri="{FF2B5EF4-FFF2-40B4-BE49-F238E27FC236}">
                <a16:creationId xmlns:a16="http://schemas.microsoft.com/office/drawing/2014/main" id="{4A929113-1368-4B1B-9C6F-140F47CBF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1" name="Right Triangle 115">
            <a:extLst>
              <a:ext uri="{FF2B5EF4-FFF2-40B4-BE49-F238E27FC236}">
                <a16:creationId xmlns:a16="http://schemas.microsoft.com/office/drawing/2014/main" id="{C24346C5-B1C8-4C83-846B-122A3B4B2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0" y="1555699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Freeform: Shape 117">
            <a:extLst>
              <a:ext uri="{FF2B5EF4-FFF2-40B4-BE49-F238E27FC236}">
                <a16:creationId xmlns:a16="http://schemas.microsoft.com/office/drawing/2014/main" id="{0B6C48B2-8296-4312-8901-93BB7735D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380" y="4114802"/>
            <a:ext cx="12211777" cy="2743198"/>
          </a:xfrm>
          <a:custGeom>
            <a:avLst/>
            <a:gdLst>
              <a:gd name="connsiteX0" fmla="*/ 8951169 w 12178450"/>
              <a:gd name="connsiteY0" fmla="*/ 32 h 2001622"/>
              <a:gd name="connsiteX1" fmla="*/ 11653845 w 12178450"/>
              <a:gd name="connsiteY1" fmla="*/ 209874 h 2001622"/>
              <a:gd name="connsiteX2" fmla="*/ 12178450 w 12178450"/>
              <a:gd name="connsiteY2" fmla="*/ 286723 h 2001622"/>
              <a:gd name="connsiteX3" fmla="*/ 12178450 w 12178450"/>
              <a:gd name="connsiteY3" fmla="*/ 2001622 h 2001622"/>
              <a:gd name="connsiteX4" fmla="*/ 0 w 12178450"/>
              <a:gd name="connsiteY4" fmla="*/ 2001622 h 2001622"/>
              <a:gd name="connsiteX5" fmla="*/ 0 w 12178450"/>
              <a:gd name="connsiteY5" fmla="*/ 1010979 h 2001622"/>
              <a:gd name="connsiteX6" fmla="*/ 8951169 w 12178450"/>
              <a:gd name="connsiteY6" fmla="*/ 32 h 200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8450" h="2001622">
                <a:moveTo>
                  <a:pt x="8951169" y="32"/>
                </a:moveTo>
                <a:cubicBezTo>
                  <a:pt x="9704520" y="1593"/>
                  <a:pt x="10578586" y="62133"/>
                  <a:pt x="11653845" y="209874"/>
                </a:cubicBezTo>
                <a:lnTo>
                  <a:pt x="12178450" y="286723"/>
                </a:lnTo>
                <a:lnTo>
                  <a:pt x="12178450" y="2001622"/>
                </a:lnTo>
                <a:lnTo>
                  <a:pt x="0" y="2001622"/>
                </a:lnTo>
                <a:lnTo>
                  <a:pt x="0" y="1010979"/>
                </a:lnTo>
                <a:cubicBezTo>
                  <a:pt x="4768989" y="1010979"/>
                  <a:pt x="5812206" y="-6472"/>
                  <a:pt x="8951169" y="32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63" name="Group 119">
            <a:extLst>
              <a:ext uri="{FF2B5EF4-FFF2-40B4-BE49-F238E27FC236}">
                <a16:creationId xmlns:a16="http://schemas.microsoft.com/office/drawing/2014/main" id="{90F28F7A-4F2F-4C1B-AF1C-A6E7C7953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B23CC870-B5E9-475F-A625-9E862A629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42A6B08C-017D-4B4D-95EC-4BB83C554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94599402-E1B8-4E3B-A56D-68606FC1E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720C48A-E9A0-4B85-A954-39375E099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0E26956-FF2A-412E-ACC4-29CCD02599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FB31E652-49AC-4108-85B8-75122A48A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DC1DB29F-0624-4035-B188-640616D5DE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1D27221C-2427-4C99-89DC-1A38A54058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2DBF1D76-8076-4BAE-B627-F1861C9E0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8E930E41-FC2F-4319-9C28-32C278430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C0936C1B-0C10-464B-85C8-345095AAB3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DB90EC61-FD0C-434A-9D1B-A20035C21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A5F5CC56-1FDA-4D3E-9C6E-8E996026C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272B8FB2-B735-480F-9A88-48AADB2227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85B46C1B-4FC4-4E24-AC43-07940BE1E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C34915AF-0AE3-4EDD-8681-4C3F2C592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5C35A3F3-714E-4F69-9BDF-8ED284EF2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03D561AC-B0B1-47EB-BE05-209F5612B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D3508E52-4FD9-4E6D-AFEA-69A88ED26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C69DDE76-16F7-472F-B6D7-84AE8FFF3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B2D87BEF-8844-4A3E-B130-B7D26740C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BB381129-2089-4EAA-AE6C-2BAA96BC8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5B69BF7A-FA63-4706-8066-DF15018E6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6A3ECB71-0CCD-403F-B14B-ABC48D78CD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D9095BBA-0FE1-49E5-89F7-22125BAF8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55351D8-6F27-4B82-968B-581B177CB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351025A5-EB5A-4057-A85E-69AF0E6BE6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5030318B-EEB9-4D92-BC50-D11510989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417FC0E3-7CC7-4188-BC7A-7E8FB5564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66B2596B-BF3A-E1BB-2E4E-54BAA90E6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142" y="168275"/>
            <a:ext cx="6542916" cy="257492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>
                <a:solidFill>
                  <a:schemeClr val="tx2"/>
                </a:solidFill>
              </a:rPr>
              <a:t>Histogram of prices per m2</a:t>
            </a:r>
          </a:p>
        </p:txBody>
      </p:sp>
      <p:pic>
        <p:nvPicPr>
          <p:cNvPr id="3" name="Grafik 2" descr="Ein Bild, das Text, Screensho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5F7CCC26-9CC5-F696-829C-2A2CCCD1E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512" y="3271956"/>
            <a:ext cx="5002102" cy="2976251"/>
          </a:xfrm>
          <a:prstGeom prst="rect">
            <a:avLst/>
          </a:prstGeom>
        </p:spPr>
      </p:pic>
      <p:pic>
        <p:nvPicPr>
          <p:cNvPr id="4" name="Grafik 3" descr="Ein Bild, das Screenshot, Tex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E6E6EFF4-2385-A093-DE77-826B0E8B9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0816" y="3271956"/>
            <a:ext cx="5044494" cy="297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864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4AA135-1D63-EE4D-7FE4-99DA21A26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3F76E1C-FC69-44F6-935D-9FD6397B50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B3C4E00-6B18-4CF8-9DC2-021622967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77E7ABFD-4E2F-460B-8571-E350D0FC7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23C184D3-4C2A-44EE-A262-2E3C6842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6C4B643-3D84-4CB1-BEEE-CB9B1D35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B398A65-DA43-4776-BDAA-279642F5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69646011-DF03-4FDE-B8BB-0AE0F89F34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2540D352-E7ED-47DC-BE8E-C9FEF77A5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6DB5D5B-5AE4-4DAB-8141-FCDB662317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58EEF6B7-AD60-428F-B6B8-2238AA57D9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F98CDB8-6AD1-4729-8490-32C346B656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EB8E25F4-254A-4197-9ADB-F0C5ADBE4C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06A3F39-2E01-4422-9A9B-45B4EF2F97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89EE711-BFF1-4294-9012-82022ED731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3586C175-76D7-4C6F-807C-C70ED98478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95DB0DA-F298-46F5-859B-F63BFF39C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B802C45-F77C-47E5-92CF-B8E7CC175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924382CF-AB3E-45B3-B1DE-A048D6B45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8C7406E1-9B70-4704-ADE3-164CA49C15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F74B1505-38F1-43E4-A215-624F3C286C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A10358C0-5CC8-4841-B5E4-E72FC83FBA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6938537-63B0-45D6-8D4B-12C7CBB41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8015E06D-5EA4-41D7-81ED-46FC62E30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C5760A-F5E0-4888-9EE8-99457C481D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EB505B7F-5D39-4E4A-8824-3B1A015647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AB7C9669-FA4D-4891-BD61-BA8A3D639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2252FB45-210F-4354-9D8E-005E2578B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DE3F9A75-1D01-443A-813C-F9CE58F561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A3E4BAE-6E09-4139-9A77-C0BCAB270A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95A77689-BF30-4CAF-8EE7-92A3A1E87B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3097EE4C-0335-4AA3-BF62-E15062FFCD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62FC2A78-9BA8-46A3-B2FC-D2536540C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12F6BB95-E3D7-4E0D-B657-19A7A700D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4BB59D20-8878-4BE1-A373-5A06B03A0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5FC95D79-E360-4A9D-9734-36CBC93E7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DA35E6A9-BB47-4AF0-9704-34A3E3332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E9E767C-C7A3-4C9E-BB5A-A6C7A55CB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514E9D6E-9E89-4243-9ABF-D53E899D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B763B0DB-5EDC-4940-914A-B1AEB112E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72A229E1-C295-4D87-8D5A-8D23A49E7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B191967F-41E6-4FB0-8EDD-887461FDE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8488BC40-49ED-4A65-BFDD-42C2380ACE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3B9873C2-1A36-4C3B-A846-B2DE9329E7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AF554750-AAD3-49D1-94C7-97D45697E0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1D14B09A-44BF-46D9-94A1-76D33A391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7ADE71B3-A935-4125-A959-9B82465AED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909AC835-5101-4FBA-9BDB-1E4D1DF7E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26DFCDBC-985F-4743-833F-BD55DDC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E116F6F7-AD3C-43D6-B98D-44897F0EB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190822A4-6A86-4617-A472-CE7F9A0BB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89CD6272-DC88-46BD-BAF4-0CA0DD4DBA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33F1AD65-F542-413F-9CBD-C2533F7172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9E5DB73A-E5E6-4F3C-AA74-78F7C5282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DBC080D5-DE50-4633-A72B-29C94D6237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615F852F-3D9E-4F8E-B38C-3A3FE5A00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947B63D4-9AD6-4481-B5C7-03A9A1B8A7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6B7CEAE6-B9C0-42D7-8770-69D8A3D06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35E117AB-9AD5-4F2A-8CE9-55DD704E7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AA9F1B50-E102-4170-B38D-DC2396664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18834EA0-11D6-48D2-9885-36869DDFBA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759B5C28-9F05-4598-B55E-100BAA982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2BD7EE85-29AF-444F-B17B-299BBAFC0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12" name="Rectangle 111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4A929113-1368-4B1B-9C6F-140F47CBF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6" name="Right Triangle 115">
            <a:extLst>
              <a:ext uri="{FF2B5EF4-FFF2-40B4-BE49-F238E27FC236}">
                <a16:creationId xmlns:a16="http://schemas.microsoft.com/office/drawing/2014/main" id="{C24346C5-B1C8-4C83-846B-122A3B4B2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0" y="1555699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Freeform: Shape 117">
            <a:extLst>
              <a:ext uri="{FF2B5EF4-FFF2-40B4-BE49-F238E27FC236}">
                <a16:creationId xmlns:a16="http://schemas.microsoft.com/office/drawing/2014/main" id="{0B6C48B2-8296-4312-8901-93BB7735D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252" y="4554328"/>
            <a:ext cx="12178450" cy="2303672"/>
          </a:xfrm>
          <a:custGeom>
            <a:avLst/>
            <a:gdLst>
              <a:gd name="connsiteX0" fmla="*/ 8951169 w 12178450"/>
              <a:gd name="connsiteY0" fmla="*/ 32 h 2001622"/>
              <a:gd name="connsiteX1" fmla="*/ 11653845 w 12178450"/>
              <a:gd name="connsiteY1" fmla="*/ 209874 h 2001622"/>
              <a:gd name="connsiteX2" fmla="*/ 12178450 w 12178450"/>
              <a:gd name="connsiteY2" fmla="*/ 286723 h 2001622"/>
              <a:gd name="connsiteX3" fmla="*/ 12178450 w 12178450"/>
              <a:gd name="connsiteY3" fmla="*/ 2001622 h 2001622"/>
              <a:gd name="connsiteX4" fmla="*/ 0 w 12178450"/>
              <a:gd name="connsiteY4" fmla="*/ 2001622 h 2001622"/>
              <a:gd name="connsiteX5" fmla="*/ 0 w 12178450"/>
              <a:gd name="connsiteY5" fmla="*/ 1010979 h 2001622"/>
              <a:gd name="connsiteX6" fmla="*/ 8951169 w 12178450"/>
              <a:gd name="connsiteY6" fmla="*/ 32 h 200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8450" h="2001622">
                <a:moveTo>
                  <a:pt x="8951169" y="32"/>
                </a:moveTo>
                <a:cubicBezTo>
                  <a:pt x="9704520" y="1593"/>
                  <a:pt x="10578586" y="62133"/>
                  <a:pt x="11653845" y="209874"/>
                </a:cubicBezTo>
                <a:lnTo>
                  <a:pt x="12178450" y="286723"/>
                </a:lnTo>
                <a:lnTo>
                  <a:pt x="12178450" y="2001622"/>
                </a:lnTo>
                <a:lnTo>
                  <a:pt x="0" y="2001622"/>
                </a:lnTo>
                <a:lnTo>
                  <a:pt x="0" y="1010979"/>
                </a:lnTo>
                <a:cubicBezTo>
                  <a:pt x="4768989" y="1010979"/>
                  <a:pt x="5812206" y="-6472"/>
                  <a:pt x="8951169" y="32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90F28F7A-4F2F-4C1B-AF1C-A6E7C7953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B23CC870-B5E9-475F-A625-9E862A629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42A6B08C-017D-4B4D-95EC-4BB83C554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94599402-E1B8-4E3B-A56D-68606FC1E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720C48A-E9A0-4B85-A954-39375E099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0E26956-FF2A-412E-ACC4-29CCD02599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FB31E652-49AC-4108-85B8-75122A48A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DC1DB29F-0624-4035-B188-640616D5DE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1D27221C-2427-4C99-89DC-1A38A54058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2DBF1D76-8076-4BAE-B627-F1861C9E0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8E930E41-FC2F-4319-9C28-32C278430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C0936C1B-0C10-464B-85C8-345095AAB3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DB90EC61-FD0C-434A-9D1B-A20035C21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A5F5CC56-1FDA-4D3E-9C6E-8E996026C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272B8FB2-B735-480F-9A88-48AADB2227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85B46C1B-4FC4-4E24-AC43-07940BE1E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C34915AF-0AE3-4EDD-8681-4C3F2C592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5C35A3F3-714E-4F69-9BDF-8ED284EF2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03D561AC-B0B1-47EB-BE05-209F5612B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D3508E52-4FD9-4E6D-AFEA-69A88ED26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C69DDE76-16F7-472F-B6D7-84AE8FFF3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B2D87BEF-8844-4A3E-B130-B7D26740C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BB381129-2089-4EAA-AE6C-2BAA96BC8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5B69BF7A-FA63-4706-8066-DF15018E6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6A3ECB71-0CCD-403F-B14B-ABC48D78CD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D9095BBA-0FE1-49E5-89F7-22125BAF8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55351D8-6F27-4B82-968B-581B177CB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351025A5-EB5A-4057-A85E-69AF0E6BE6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5030318B-EEB9-4D92-BC50-D11510989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417FC0E3-7CC7-4188-BC7A-7E8FB5564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8CC555CC-2989-2766-2184-B3E1F6B98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142" y="168275"/>
            <a:ext cx="6542916" cy="257492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/>
              <a:t>Histogram of areas</a:t>
            </a:r>
          </a:p>
        </p:txBody>
      </p:sp>
      <p:pic>
        <p:nvPicPr>
          <p:cNvPr id="3" name="Grafik 2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2321EDF0-7A30-152C-09D7-2C94658FB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308" y="3271956"/>
            <a:ext cx="4561305" cy="2976251"/>
          </a:xfrm>
          <a:prstGeom prst="rect">
            <a:avLst/>
          </a:prstGeom>
        </p:spPr>
      </p:pic>
      <p:pic>
        <p:nvPicPr>
          <p:cNvPr id="4" name="Grafik 3" descr="Ein Bild, das Text, Screensho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BED923F9-7C05-4149-CE00-3543009EA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0816" y="3271956"/>
            <a:ext cx="4561305" cy="297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861891"/>
      </p:ext>
    </p:extLst>
  </p:cSld>
  <p:clrMapOvr>
    <a:masterClrMapping/>
  </p:clrMapOvr>
</p:sld>
</file>

<file path=ppt/theme/theme1.xml><?xml version="1.0" encoding="utf-8"?>
<a:theme xmlns:a="http://schemas.openxmlformats.org/drawingml/2006/main" name="SineVTI">
  <a:themeElements>
    <a:clrScheme name="Custom 51">
      <a:dk1>
        <a:sysClr val="windowText" lastClr="000000"/>
      </a:dk1>
      <a:lt1>
        <a:sysClr val="window" lastClr="FFFFFF"/>
      </a:lt1>
      <a:dk2>
        <a:srgbClr val="12154E"/>
      </a:dk2>
      <a:lt2>
        <a:srgbClr val="EEEEEE"/>
      </a:lt2>
      <a:accent1>
        <a:srgbClr val="FD8686"/>
      </a:accent1>
      <a:accent2>
        <a:srgbClr val="B495C2"/>
      </a:accent2>
      <a:accent3>
        <a:srgbClr val="8F99BB"/>
      </a:accent3>
      <a:accent4>
        <a:srgbClr val="A3A3C1"/>
      </a:accent4>
      <a:accent5>
        <a:srgbClr val="7162FE"/>
      </a:accent5>
      <a:accent6>
        <a:srgbClr val="1EBE9B"/>
      </a:accent6>
      <a:hlink>
        <a:srgbClr val="EF08F7"/>
      </a:hlink>
      <a:folHlink>
        <a:srgbClr val="8477FE"/>
      </a:folHlink>
    </a:clrScheme>
    <a:fontScheme name="Custom 49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neVTI" id="{8435B2A2-1BD5-4C05-93E5-3C5388B709E3}" vid="{0D704B13-63FE-4848-A298-6B7359B9565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Microsoft Macintosh PowerPoint</Application>
  <PresentationFormat>Breitbild</PresentationFormat>
  <Paragraphs>6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Arial</vt:lpstr>
      <vt:lpstr>Avenir Next LT Pro</vt:lpstr>
      <vt:lpstr>Posterama</vt:lpstr>
      <vt:lpstr>SineVTI</vt:lpstr>
      <vt:lpstr>Comparison of rural and city appartments of ZH</vt:lpstr>
      <vt:lpstr>Summary</vt:lpstr>
      <vt:lpstr>Boxplot of prices per m2</vt:lpstr>
      <vt:lpstr>Boxplot of areas</vt:lpstr>
      <vt:lpstr>Histogram of prices per m2</vt:lpstr>
      <vt:lpstr>Histogram of areas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Claudia Carvalho</dc:creator>
  <cp:lastModifiedBy>Claudia Carvalho</cp:lastModifiedBy>
  <cp:revision>1</cp:revision>
  <dcterms:created xsi:type="dcterms:W3CDTF">2025-12-14T10:03:20Z</dcterms:created>
  <dcterms:modified xsi:type="dcterms:W3CDTF">2025-12-14T10:15:17Z</dcterms:modified>
</cp:coreProperties>
</file>